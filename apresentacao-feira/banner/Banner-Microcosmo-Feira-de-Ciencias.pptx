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4"/>
  </p:notesMasterIdLst>
  <p:sldIdLst>
    <p:sldId id="256" r:id="rId3"/>
  </p:sldIdLst>
  <p:sldSz cx="28803600" cy="43205400"/>
  <p:notesSz cx="7099300" cy="10234613"/>
  <p:embeddedFontLst>
    <p:embeddedFont>
      <p:font typeface="Tahoma" panose="020B0604030504040204" pitchFamily="34" charset="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907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jUT3b+t41B0MgJmCu19wf6piY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0ED9E5-6D4F-437C-8EF4-EEC5E1FC5738}">
  <a:tblStyle styleId="{400ED9E5-6D4F-437C-8EF4-EEC5E1FC57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48" y="16"/>
      </p:cViewPr>
      <p:guideLst>
        <p:guide orient="horz" pos="13608"/>
        <p:guide pos="9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75" tIns="49875" rIns="99775" bIns="498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75" tIns="49875" rIns="99775" bIns="498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70125" y="768350"/>
            <a:ext cx="25590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75" tIns="49875" rIns="99775" bIns="49875" anchor="t" anchorCtr="0">
            <a:normAutofit/>
          </a:bodyPr>
          <a:lstStyle>
            <a:lvl1pPr marL="457200" marR="0" lvl="0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75" tIns="49875" rIns="99775" bIns="498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75" tIns="49875" rIns="99775" bIns="498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0125" y="768350"/>
            <a:ext cx="25590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75" tIns="49875" rIns="99775" bIns="498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75" tIns="49875" rIns="99775" bIns="498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ctrTitle"/>
          </p:nvPr>
        </p:nvSpPr>
        <p:spPr>
          <a:xfrm>
            <a:off x="2160270" y="12303038"/>
            <a:ext cx="24483060" cy="848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1"/>
          </p:nvPr>
        </p:nvSpPr>
        <p:spPr>
          <a:xfrm>
            <a:off x="4320540" y="22442805"/>
            <a:ext cx="20162520" cy="101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3380"/>
              </a:spcBef>
              <a:spcAft>
                <a:spcPts val="0"/>
              </a:spcAft>
              <a:buClr>
                <a:schemeClr val="dk1"/>
              </a:buClr>
              <a:buSzPts val="16900"/>
              <a:buFont typeface="Times New Roman"/>
              <a:buNone/>
              <a:defRPr/>
            </a:lvl1pPr>
            <a:lvl2pPr lvl="1" algn="ctr">
              <a:spcBef>
                <a:spcPts val="2920"/>
              </a:spcBef>
              <a:spcAft>
                <a:spcPts val="0"/>
              </a:spcAft>
              <a:buClr>
                <a:schemeClr val="dk1"/>
              </a:buClr>
              <a:buSzPts val="14600"/>
              <a:buFont typeface="Times New Roman"/>
              <a:buNone/>
              <a:defRPr/>
            </a:lvl2pPr>
            <a:lvl3pPr lvl="2" algn="ctr"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Times New Roman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None/>
              <a:defRPr/>
            </a:lvl8pPr>
            <a:lvl9pPr lvl="8" algn="ctr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2159000" y="3840163"/>
            <a:ext cx="24485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2159000" y="12479338"/>
            <a:ext cx="24485600" cy="259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274951" y="25449181"/>
            <a:ext cx="24483060" cy="786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2274951" y="16785599"/>
            <a:ext cx="24483060" cy="866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3pPr>
            <a:lvl4pPr marL="1828800" lvl="3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4pPr>
            <a:lvl5pPr marL="2286000" lvl="4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159000" y="3840163"/>
            <a:ext cx="24485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2158937" y="11438930"/>
            <a:ext cx="12178855" cy="2376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3873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  <a:defRPr sz="2500"/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–"/>
              <a:defRPr sz="22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14465808" y="11438930"/>
            <a:ext cx="12178856" cy="2376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3873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  <a:defRPr sz="2500"/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–"/>
              <a:defRPr sz="22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1440180" y="1585699"/>
            <a:ext cx="25923240" cy="660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1440180" y="8864609"/>
            <a:ext cx="12726924" cy="3694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  <a:defRPr sz="2200" b="1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2"/>
          </p:nvPr>
        </p:nvSpPr>
        <p:spPr>
          <a:xfrm>
            <a:off x="1440180" y="12559570"/>
            <a:ext cx="12726924" cy="2281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5pPr>
            <a:lvl6pPr marL="2743200" lvl="5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6pPr>
            <a:lvl7pPr marL="3200400" lvl="6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7pPr>
            <a:lvl8pPr marL="3657600" lvl="7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8pPr>
            <a:lvl9pPr marL="4114800" lvl="8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3"/>
          </p:nvPr>
        </p:nvSpPr>
        <p:spPr>
          <a:xfrm>
            <a:off x="14632496" y="8864609"/>
            <a:ext cx="12730924" cy="3694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  <a:defRPr sz="2200" b="1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1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4"/>
          </p:nvPr>
        </p:nvSpPr>
        <p:spPr>
          <a:xfrm>
            <a:off x="14632496" y="12559570"/>
            <a:ext cx="12730924" cy="2281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5pPr>
            <a:lvl6pPr marL="2743200" lvl="5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6pPr>
            <a:lvl7pPr marL="3200400" lvl="6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7pPr>
            <a:lvl8pPr marL="3657600" lvl="7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8pPr>
            <a:lvl9pPr marL="4114800" lvl="8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sz="1400"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159000" y="3840163"/>
            <a:ext cx="24485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440180" y="1576698"/>
            <a:ext cx="9475851" cy="671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11261408" y="1576697"/>
            <a:ext cx="16102012" cy="3380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  <a:defRPr sz="2900"/>
            </a:lvl1pPr>
            <a:lvl2pPr marL="914400" lvl="1" indent="-3873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–"/>
              <a:defRPr sz="2500"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1440180" y="8287036"/>
            <a:ext cx="9475851" cy="2709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1pPr>
            <a:lvl2pPr marL="914400" lvl="1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4pPr>
            <a:lvl5pPr marL="2286000" lvl="4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5pPr>
            <a:lvl6pPr marL="2743200" lvl="5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6pPr>
            <a:lvl7pPr marL="3200400" lvl="6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7pPr>
            <a:lvl8pPr marL="3657600" lvl="7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8pPr>
            <a:lvl9pPr marL="4114800" lvl="8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5646039" y="27723466"/>
            <a:ext cx="17282160" cy="3273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>
            <a:spLocks noGrp="1"/>
          </p:cNvSpPr>
          <p:nvPr>
            <p:ph type="pic" idx="2"/>
          </p:nvPr>
        </p:nvSpPr>
        <p:spPr>
          <a:xfrm>
            <a:off x="5646039" y="3538943"/>
            <a:ext cx="17282160" cy="2376297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5646039" y="30996875"/>
            <a:ext cx="17282160" cy="4647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1pPr>
            <a:lvl2pPr marL="914400" lvl="1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4pPr>
            <a:lvl5pPr marL="2286000" lvl="4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5pPr>
            <a:lvl6pPr marL="2743200" lvl="5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6pPr>
            <a:lvl7pPr marL="3200400" lvl="6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7pPr>
            <a:lvl8pPr marL="3657600" lvl="7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8pPr>
            <a:lvl9pPr marL="4114800" lvl="8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2159000" y="3840163"/>
            <a:ext cx="24485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 rot="5400000">
            <a:off x="1439863" y="13198476"/>
            <a:ext cx="25923875" cy="244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 rot="5400000">
            <a:off x="7742302" y="16301038"/>
            <a:ext cx="31683960" cy="6120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 rot="5400000">
            <a:off x="-4564570" y="10242947"/>
            <a:ext cx="31683960" cy="1823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2159000" y="3840163"/>
            <a:ext cx="24485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2159000" y="12479338"/>
            <a:ext cx="24485600" cy="259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marR="0" lvl="0" indent="-1301750" algn="l" rtl="0">
              <a:spcBef>
                <a:spcPts val="3380"/>
              </a:spcBef>
              <a:spcAft>
                <a:spcPts val="0"/>
              </a:spcAft>
              <a:buClr>
                <a:schemeClr val="dk1"/>
              </a:buClr>
              <a:buSzPts val="16900"/>
              <a:buFont typeface="Times New Roman"/>
              <a:buChar char="•"/>
              <a:defRPr sz="16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1155700" algn="l" rtl="0">
              <a:spcBef>
                <a:spcPts val="2920"/>
              </a:spcBef>
              <a:spcAft>
                <a:spcPts val="0"/>
              </a:spcAft>
              <a:buClr>
                <a:schemeClr val="dk1"/>
              </a:buClr>
              <a:buSzPts val="14600"/>
              <a:buFont typeface="Times New Roman"/>
              <a:buChar char="–"/>
              <a:defRPr sz="14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1028700" algn="l" rtl="0"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Times New Roman"/>
              <a:buChar char="•"/>
              <a:defRPr sz="1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–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7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2159000" y="3840163"/>
            <a:ext cx="24485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1"/>
          </p:nvPr>
        </p:nvSpPr>
        <p:spPr>
          <a:xfrm>
            <a:off x="2159000" y="12479338"/>
            <a:ext cx="24485600" cy="259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457200" marR="0" lvl="0" indent="-1301750" algn="l" rtl="0">
              <a:spcBef>
                <a:spcPts val="3380"/>
              </a:spcBef>
              <a:spcAft>
                <a:spcPts val="0"/>
              </a:spcAft>
              <a:buClr>
                <a:schemeClr val="dk1"/>
              </a:buClr>
              <a:buSzPts val="16900"/>
              <a:buFont typeface="Times New Roman"/>
              <a:buChar char="•"/>
              <a:defRPr sz="16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1155700" algn="l" rtl="0">
              <a:spcBef>
                <a:spcPts val="2920"/>
              </a:spcBef>
              <a:spcAft>
                <a:spcPts val="0"/>
              </a:spcAft>
              <a:buClr>
                <a:schemeClr val="dk1"/>
              </a:buClr>
              <a:buSzPts val="14600"/>
              <a:buFont typeface="Times New Roman"/>
              <a:buChar char="–"/>
              <a:defRPr sz="14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1028700" algn="l" rtl="0"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Times New Roman"/>
              <a:buChar char="•"/>
              <a:defRPr sz="1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–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8953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Times New Roman"/>
              <a:buChar char="»"/>
              <a:defRPr sz="10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2159000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9840913" y="39365238"/>
            <a:ext cx="912177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20640675" y="39365238"/>
            <a:ext cx="6003925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450" tIns="240225" rIns="480450" bIns="2402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7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 descr="Banner ultralargo da Feira de Ciências(1).png"/>
          <p:cNvPicPr>
            <a:picLocks noChangeAspect="1"/>
          </p:cNvPicPr>
          <p:nvPr/>
        </p:nvPicPr>
        <p:blipFill>
          <a:blip r:embed="rId4"/>
          <a:srcRect l="13393" t="11155"/>
          <a:stretch>
            <a:fillRect/>
          </a:stretch>
        </p:blipFill>
        <p:spPr>
          <a:xfrm>
            <a:off x="0" y="0"/>
            <a:ext cx="28803600" cy="6481762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9784080" y="4279392"/>
            <a:ext cx="8229600" cy="86868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/>
            <a:r>
              <a:rPr sz="6400" b="1">
                <a:solidFill>
                  <a:srgbClr val="002E60"/>
                </a:solidFill>
                <a:latin typeface="Arial"/>
              </a:rPr>
              <a:t>2026</a:t>
            </a:r>
          </a:p>
        </p:txBody>
      </p:sp>
      <p:sp>
        <p:nvSpPr>
          <p:cNvPr id="201" name="Título"/>
          <p:cNvSpPr txBox="1"/>
          <p:nvPr/>
        </p:nvSpPr>
        <p:spPr>
          <a:xfrm>
            <a:off x="1440000" y="7272000"/>
            <a:ext cx="25920000" cy="2512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00" b="1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MICROCOSMO: MICROSCÓPIO DIGITAL PARA A ANÁLISE MICROBIOLÓGICA DO LEITE</a:t>
            </a:r>
          </a:p>
        </p:txBody>
      </p:sp>
      <p:sp>
        <p:nvSpPr>
          <p:cNvPr id="202" name="Autores"/>
          <p:cNvSpPr txBox="1"/>
          <p:nvPr/>
        </p:nvSpPr>
        <p:spPr>
          <a:xfrm>
            <a:off x="1440000" y="10144060"/>
            <a:ext cx="25920000" cy="1533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Nome Completo 1, Nome Completo 2, Nome Completo 3, Nome Completo 4</a:t>
            </a:r>
            <a:r>
              <a:rPr lang="pt-BR" sz="3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(Estudantes – Turma </a:t>
            </a:r>
            <a:r>
              <a:rPr lang="pt-BR" sz="35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lang="pt-BR" sz="3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Nome do(a) Professor(a)</a:t>
            </a:r>
            <a:r>
              <a:rPr lang="pt-BR" sz="3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(Orientador(a))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Centro de Ensino em Período Integral Garavelo Park – Email: </a:t>
            </a:r>
            <a:r>
              <a:rPr lang="pt-BR" sz="35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email@exemplo.com</a:t>
            </a:r>
          </a:p>
        </p:txBody>
      </p:sp>
      <p:sp>
        <p:nvSpPr>
          <p:cNvPr id="203" name="Introdução – título"/>
          <p:cNvSpPr txBox="1"/>
          <p:nvPr/>
        </p:nvSpPr>
        <p:spPr>
          <a:xfrm>
            <a:off x="1440000" y="12397584"/>
            <a:ext cx="12060000" cy="657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INTRODUÇÃO</a:t>
            </a:r>
          </a:p>
        </p:txBody>
      </p:sp>
      <p:sp>
        <p:nvSpPr>
          <p:cNvPr id="204" name="Introdução – texto"/>
          <p:cNvSpPr txBox="1"/>
          <p:nvPr/>
        </p:nvSpPr>
        <p:spPr>
          <a:xfrm>
            <a:off x="1440000" y="13270809"/>
            <a:ext cx="12060000" cy="69875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45000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leite cru convivem bactérias benéficas, como os fermentos láticos de iogurtes e queijos, e bactérias deteriorantes ou patogênicas, como </a:t>
            </a:r>
            <a:r>
              <a:rPr lang="pt-BR" sz="3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Escherichia coli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3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Staphylococcus aureus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sz="3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Brucella abortus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Nenhuma delas é visível a olho nu, e a contagem tradicional em placa leva cerca de 72 horas: quando o resultado sai, o lote muitas vezes já foi processado. Quem manipula essas amostras ainda corre o risco de contrair zoonoses.</a:t>
            </a:r>
          </a:p>
          <a:p>
            <a:pPr marL="0" indent="45000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objetivo foi desenvolver o Microcosmo, um microscópio digital que simula a análise de amostras de água, solo e leite, identifica cada microrganismo, informa se ele faz bem ou mal à saúde humana e emite o laudo do lote seguindo regras de biossegurança da </a:t>
            </a:r>
            <a:r>
              <a:rPr lang="pt-BR" sz="3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NR-32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205" name="Materiais e métodos – título"/>
          <p:cNvSpPr txBox="1"/>
          <p:nvPr/>
        </p:nvSpPr>
        <p:spPr>
          <a:xfrm>
            <a:off x="1440000" y="20834349"/>
            <a:ext cx="12060000" cy="657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MATERIAIS E MÉTODOS</a:t>
            </a:r>
          </a:p>
        </p:txBody>
      </p:sp>
      <p:sp>
        <p:nvSpPr>
          <p:cNvPr id="206" name="Materiais e métodos – texto"/>
          <p:cNvSpPr txBox="1"/>
          <p:nvPr/>
        </p:nvSpPr>
        <p:spPr>
          <a:xfrm>
            <a:off x="1440000" y="21707574"/>
            <a:ext cx="12060000" cy="72415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450000" algn="just"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Pesquisa aplicada, de desenvolvimento de software, feita em quatro etapas:</a:t>
            </a:r>
          </a:p>
          <a:p>
            <a:pPr marL="360000" indent="-360000" algn="just">
              <a:spcBef>
                <a:spcPts val="0"/>
              </a:spcBef>
              <a:spcAft>
                <a:spcPts val="800"/>
              </a:spcAft>
              <a:buClr>
                <a:srgbClr val="0066CC"/>
              </a:buClr>
              <a:buSzPct val="100000"/>
              <a:buFont typeface="Arial"/>
              <a:buChar char="•"/>
            </a:pPr>
            <a:r>
              <a:rPr lang="pt-BR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Engenharia de requisitos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escopo do sistema, 6 requisitos funcionais, 4 regras de negócio da NR e requisitos de qualidade.</a:t>
            </a:r>
          </a:p>
          <a:p>
            <a:pPr marL="360000" indent="-360000" algn="just">
              <a:spcBef>
                <a:spcPts val="0"/>
              </a:spcBef>
              <a:spcAft>
                <a:spcPts val="800"/>
              </a:spcAft>
              <a:buClr>
                <a:srgbClr val="0066CC"/>
              </a:buClr>
              <a:buSzPct val="100000"/>
              <a:buFont typeface="Arial"/>
              <a:buChar char="•"/>
            </a:pPr>
            <a:r>
              <a:rPr lang="pt-BR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Modelagem UML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diagrama de casos de uso com técnico de laboratório, supervisor de qualidade e serviço de inspeção (SIF).</a:t>
            </a:r>
          </a:p>
          <a:p>
            <a:pPr marL="360000" indent="-360000" algn="just">
              <a:spcBef>
                <a:spcPts val="0"/>
              </a:spcBef>
              <a:spcAft>
                <a:spcPts val="800"/>
              </a:spcAft>
              <a:buClr>
                <a:srgbClr val="0066CC"/>
              </a:buClr>
              <a:buSzPct val="100000"/>
              <a:buFont typeface="Arial"/>
              <a:buChar char="•"/>
            </a:pPr>
            <a:r>
              <a:rPr lang="pt-BR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HTML, CSS e JavaScript, que roda no navegador sem instalação, com 44 espécies — 15 delas do leite — e ficha científica de cada uma.</a:t>
            </a:r>
          </a:p>
          <a:p>
            <a:pPr marL="360000" indent="-360000" algn="just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ct val="100000"/>
              <a:buFont typeface="Arial"/>
              <a:buChar char="•"/>
            </a:pPr>
            <a:r>
              <a:rPr lang="pt-BR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cinco lotes simulados: leite bom, mastite, contaminação fecal, falha de refrigeração e zoonose.</a:t>
            </a:r>
          </a:p>
        </p:txBody>
      </p:sp>
      <p:sp>
        <p:nvSpPr>
          <p:cNvPr id="207" name="Resultados – título"/>
          <p:cNvSpPr txBox="1"/>
          <p:nvPr/>
        </p:nvSpPr>
        <p:spPr>
          <a:xfrm>
            <a:off x="1440000" y="29525114"/>
            <a:ext cx="12060000" cy="657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RESULTADOS E DISCUSSÃO</a:t>
            </a:r>
          </a:p>
        </p:txBody>
      </p:sp>
      <p:sp>
        <p:nvSpPr>
          <p:cNvPr id="208" name="Resultados – texto"/>
          <p:cNvSpPr txBox="1"/>
          <p:nvPr/>
        </p:nvSpPr>
        <p:spPr>
          <a:xfrm>
            <a:off x="1440000" y="30398339"/>
            <a:ext cx="1206000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45000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sistema reproduz a rotina do laboratório: o técnico foca a lâmina em quatro planos (100 a 720 µm), segura o microrganismo com a pipeta por 5 segundos e recebe a classificação na hora (Figura 1).</a:t>
            </a:r>
          </a:p>
        </p:txBody>
      </p:sp>
      <p:pic>
        <p:nvPicPr>
          <p:cNvPr id="209" name="Figura 1" descr="Tela do Microcosmo: lâmina de leite cru com bactérias e painel de análise do lote com risco ALT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000" y="32789459"/>
            <a:ext cx="12060000" cy="6861523"/>
          </a:xfrm>
          <a:prstGeom prst="rect">
            <a:avLst/>
          </a:prstGeom>
          <a:ln w="19050">
            <a:solidFill>
              <a:srgbClr val="7F7F7F"/>
            </a:solidFill>
          </a:ln>
        </p:spPr>
      </p:pic>
      <p:sp>
        <p:nvSpPr>
          <p:cNvPr id="210" name="Figura 1 – legenda"/>
          <p:cNvSpPr txBox="1"/>
          <p:nvPr/>
        </p:nvSpPr>
        <p:spPr>
          <a:xfrm>
            <a:off x="1440000" y="39794983"/>
            <a:ext cx="12060000" cy="9347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Figura 1.</a:t>
            </a: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Lâmina digital com amostra de leite cru: bactérias em movimento e painel de análise com o risco do lote.</a:t>
            </a:r>
          </a:p>
        </p:txBody>
      </p:sp>
      <p:sp>
        <p:nvSpPr>
          <p:cNvPr id="211" name="Tabela 1 – título"/>
          <p:cNvSpPr txBox="1"/>
          <p:nvPr/>
        </p:nvSpPr>
        <p:spPr>
          <a:xfrm>
            <a:off x="15300000" y="12397584"/>
            <a:ext cx="120600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 1.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Exemplos de microrganismos do leite classificados pelo Microcosmo.</a:t>
            </a:r>
          </a:p>
        </p:txBody>
      </p:sp>
      <p:graphicFrame>
        <p:nvGraphicFramePr>
          <p:cNvPr id="212" name="Tabela 1"/>
          <p:cNvGraphicFramePr>
            <a:graphicFrameLocks noGrp="1"/>
          </p:cNvGraphicFramePr>
          <p:nvPr/>
        </p:nvGraphicFramePr>
        <p:xfrm>
          <a:off x="15300000" y="13629144"/>
          <a:ext cx="12060000" cy="6007650"/>
        </p:xfrm>
        <a:graphic>
          <a:graphicData uri="http://schemas.openxmlformats.org/drawingml/2006/table">
            <a:tbl>
              <a:tblPr firstRow="1">
                <a:noFill/>
                <a:tableStyleId>{400ED9E5-6D4F-437C-8EF4-EEC5E1FC5738}</a:tableStyleId>
              </a:tblPr>
              <a:tblGrid>
                <a:gridCol w="3816000"/>
                <a:gridCol w="2880000"/>
                <a:gridCol w="5364000"/>
              </a:tblGrid>
              <a:tr h="636149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Microrganismo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Classificação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Efeito no leite e na saúde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9F7"/>
                    </a:solidFill>
                  </a:tcPr>
                </a:tc>
              </a:tr>
              <a:tr h="10743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Lactococcus lactis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1E7B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Benéfica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Fermento de queijos; produz nisina, conservante natural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10743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Pseudomonas fluorescens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A865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Deteriorante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Cresce na geladeira; deixa o leite amargo e rançoso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10743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Staphylococcus aureus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C026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Patogênica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Ligada à mastite; a toxina resiste à pasteurização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10743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Escherichia coli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C026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Patogênica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 contaminação fecal; cepas causam diarreia grave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10743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Brucella abortus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1" i="0" u="none" strike="noStrike" cap="none">
                          <a:solidFill>
                            <a:srgbClr val="C026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Patogênica</a:t>
                      </a:r>
                      <a:r>
                        <a:rPr lang="pt-BR" sz="3000" b="0" i="0" u="none" strike="noStrike" cap="none">
                          <a:solidFill>
                            <a:srgbClr val="C026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(classe 3)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Causa brucelose, zoonose de notificação obrigatória</a:t>
                      </a:r>
                    </a:p>
                  </a:txBody>
                  <a:tcPr marL="90000" marR="90000" marT="54000" marB="54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3" name="Resultados – continuação"/>
          <p:cNvSpPr txBox="1"/>
          <p:nvPr/>
        </p:nvSpPr>
        <p:spPr>
          <a:xfrm>
            <a:off x="15300000" y="20068794"/>
            <a:ext cx="12060000" cy="3680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45000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Pela regra RN01, qualquer patógeno eleva o risco do lote para ALTO e impede sua liberação cru; pela RN02, </a:t>
            </a:r>
            <a:r>
              <a:rPr lang="pt-BR" sz="3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Brucella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3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Mycobacterium bovis</a:t>
            </a: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geram alerta de biossegurança e notificação. O laudo sai em segundos, com a causa provável — mastite, falha de higiene ou de refrigeração (Figura 2) —, e a decisão sobre o lote é tomada antes do processamento.</a:t>
            </a:r>
          </a:p>
        </p:txBody>
      </p:sp>
      <p:pic>
        <p:nvPicPr>
          <p:cNvPr id="214" name="Figura 2a" descr="Ficha da E. coli no Microcosmo, classificada como patogênica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00000" y="24037254"/>
            <a:ext cx="5850000" cy="4482467"/>
          </a:xfrm>
          <a:prstGeom prst="rect">
            <a:avLst/>
          </a:prstGeom>
          <a:ln w="19050">
            <a:solidFill>
              <a:srgbClr val="7F7F7F"/>
            </a:solidFill>
          </a:ln>
        </p:spPr>
      </p:pic>
      <p:pic>
        <p:nvPicPr>
          <p:cNvPr id="215" name="Figura 2b" descr="Laudo microbiológico do lote com risco ALTO e causa prováv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510000" y="24037254"/>
            <a:ext cx="5850000" cy="4482467"/>
          </a:xfrm>
          <a:prstGeom prst="rect">
            <a:avLst/>
          </a:prstGeom>
          <a:ln w="19050">
            <a:solidFill>
              <a:srgbClr val="7F7F7F"/>
            </a:solidFill>
          </a:ln>
        </p:spPr>
      </p:pic>
      <p:sp>
        <p:nvSpPr>
          <p:cNvPr id="216" name="Figura 2 – legenda"/>
          <p:cNvSpPr txBox="1"/>
          <p:nvPr/>
        </p:nvSpPr>
        <p:spPr>
          <a:xfrm>
            <a:off x="15300000" y="28663722"/>
            <a:ext cx="12060000" cy="9347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Figura 2.</a:t>
            </a: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(a) Ficha da </a:t>
            </a:r>
            <a:r>
              <a:rPr lang="pt-BR" sz="3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 coli</a:t>
            </a: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classificada como patogênica; (b) laudo do lote com risco ALTO e causa provável.</a:t>
            </a:r>
          </a:p>
        </p:txBody>
      </p:sp>
      <p:sp>
        <p:nvSpPr>
          <p:cNvPr id="217" name="Conclusão – título"/>
          <p:cNvSpPr txBox="1"/>
          <p:nvPr/>
        </p:nvSpPr>
        <p:spPr>
          <a:xfrm>
            <a:off x="15300000" y="30174442"/>
            <a:ext cx="12060000" cy="657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CONCLUSÃO</a:t>
            </a:r>
          </a:p>
        </p:txBody>
      </p:sp>
      <p:sp>
        <p:nvSpPr>
          <p:cNvPr id="218" name="Conclusão – texto"/>
          <p:cNvSpPr txBox="1"/>
          <p:nvPr/>
        </p:nvSpPr>
        <p:spPr>
          <a:xfrm>
            <a:off x="15300000" y="31047667"/>
            <a:ext cx="12060000" cy="3680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45000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Microcosmo transformou a análise microbiológica do leite em um processo rápido, visual e guiado por regras: cada microrganismo é identificado e classificado, o risco do lote é calculado e as exigências de biossegurança da NR passam a ser aplicadas pelo próprio sistema. Como continuidade, propõe-se integrar o sistema a imagens de microscópios reais e a contagens feitas em laboratório.</a:t>
            </a:r>
          </a:p>
        </p:txBody>
      </p:sp>
      <p:sp>
        <p:nvSpPr>
          <p:cNvPr id="219" name="Referências – título"/>
          <p:cNvSpPr txBox="1"/>
          <p:nvPr/>
        </p:nvSpPr>
        <p:spPr>
          <a:xfrm>
            <a:off x="15300000" y="35304127"/>
            <a:ext cx="12060000" cy="657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REFERÊNCIAS</a:t>
            </a:r>
          </a:p>
        </p:txBody>
      </p:sp>
      <p:sp>
        <p:nvSpPr>
          <p:cNvPr id="220" name="Referências – texto"/>
          <p:cNvSpPr txBox="1"/>
          <p:nvPr/>
        </p:nvSpPr>
        <p:spPr>
          <a:xfrm>
            <a:off x="15300000" y="36177352"/>
            <a:ext cx="12060000" cy="4587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BRASIL. Ministério da Agricultura, Pecuária e Abastecimento. Instrução Normativa nº 76, de 26 de novembro de 2018. </a:t>
            </a:r>
            <a:r>
              <a:rPr lang="pt-B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Diário Oficial da União</a:t>
            </a: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Brasília, DF, 30 nov. 2018.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BRASIL. Ministério do Trabalho e Emprego. </a:t>
            </a:r>
            <a:r>
              <a:rPr lang="pt-B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NR 32: segurança e saúde no trabalho em serviços de saúde</a:t>
            </a: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Brasília: MTE, 2005.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FRANCO, B. D. G. M.; LANDGRAF, M. </a:t>
            </a:r>
            <a:r>
              <a:rPr lang="pt-B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Microbiologia dos alimentos</a:t>
            </a: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São Paulo: Atheneu, 2008.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TORTORA, G. J.; FUNKE, B. R.; CASE, C. L. </a:t>
            </a:r>
            <a:r>
              <a:rPr lang="pt-BR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Microbiologia</a:t>
            </a:r>
            <a:r>
              <a:rPr lang="pt-BR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12. ed. Porto Alegre: Artmed,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rutura padrão">
  <a:themeElements>
    <a:clrScheme name="">
      <a:dk1>
        <a:srgbClr val="000000"/>
      </a:dk1>
      <a:lt1>
        <a:srgbClr val="339966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DCAB8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Office PowerPoint</Application>
  <PresentationFormat>Personalizar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Tahoma</vt:lpstr>
      <vt:lpstr>Times New Roman</vt:lpstr>
      <vt:lpstr>Calibri</vt:lpstr>
      <vt:lpstr>Arial</vt:lpstr>
      <vt:lpstr>Noto Sans Symbols</vt:lpstr>
      <vt:lpstr>Estrutura padrão</vt:lpstr>
      <vt:lpstr>Estrutura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Jeronimo</dc:creator>
  <cp:lastModifiedBy>Fabricio Lopes</cp:lastModifiedBy>
  <cp:revision>1</cp:revision>
  <dcterms:created xsi:type="dcterms:W3CDTF">2003-06-01T18:10:39Z</dcterms:created>
  <dcterms:modified xsi:type="dcterms:W3CDTF">2026-10-08T17:14:21Z</dcterms:modified>
</cp:coreProperties>
</file>